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9" r:id="rId3"/>
  </p:sldIdLst>
  <p:sldSz cx="30275213" cy="42803763"/>
  <p:notesSz cx="6858000" cy="9144000"/>
  <p:defaultTextStyle>
    <a:defPPr>
      <a:defRPr lang="en-US"/>
    </a:defPPr>
    <a:lvl1pPr marL="0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1pPr>
    <a:lvl2pPr marL="1753316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2pPr>
    <a:lvl3pPr marL="3506633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3pPr>
    <a:lvl4pPr marL="5259953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4pPr>
    <a:lvl5pPr marL="7013269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5pPr>
    <a:lvl6pPr marL="8766586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6pPr>
    <a:lvl7pPr marL="10519902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7pPr>
    <a:lvl8pPr marL="12273218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8pPr>
    <a:lvl9pPr marL="14026535" algn="l" defTabSz="3506633" rtl="0" eaLnBrk="1" latinLnBrk="0" hangingPunct="1">
      <a:defRPr sz="69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59"/>
    <a:srgbClr val="2DC2C2"/>
    <a:srgbClr val="293A42"/>
    <a:srgbClr val="CEDADA"/>
    <a:srgbClr val="FFFFFF"/>
    <a:srgbClr val="DC143C"/>
    <a:srgbClr val="009999"/>
    <a:srgbClr val="404040"/>
    <a:srgbClr val="008A8A"/>
    <a:srgbClr val="95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82" autoAdjust="0"/>
  </p:normalViewPr>
  <p:slideViewPr>
    <p:cSldViewPr snapToGrid="0">
      <p:cViewPr>
        <p:scale>
          <a:sx n="33" d="100"/>
          <a:sy n="33" d="100"/>
        </p:scale>
        <p:origin x="73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4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67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3" y="10671229"/>
            <a:ext cx="26112371" cy="1780517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0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6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3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3" cy="229971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29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2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1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8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8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4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8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8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2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73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075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87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9950" y="5707175"/>
            <a:ext cx="23001504" cy="21771786"/>
          </a:xfrm>
        </p:spPr>
        <p:txBody>
          <a:bodyPr anchor="b">
            <a:normAutofit/>
          </a:bodyPr>
          <a:lstStyle>
            <a:lvl1pPr algn="r">
              <a:defRPr sz="1787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81971" y="27478958"/>
            <a:ext cx="19079486" cy="8516632"/>
          </a:xfrm>
        </p:spPr>
        <p:txBody>
          <a:bodyPr anchor="t">
            <a:normAutofit/>
          </a:bodyPr>
          <a:lstStyle>
            <a:lvl1pPr marL="0" indent="0" algn="r">
              <a:buNone/>
              <a:defRPr sz="5960">
                <a:solidFill>
                  <a:schemeClr val="tx1"/>
                </a:solidFill>
              </a:defRPr>
            </a:lvl1pPr>
            <a:lvl2pPr marL="1513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27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541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054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568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082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55178" y="38180960"/>
            <a:ext cx="2839040" cy="2278904"/>
          </a:xfrm>
        </p:spPr>
        <p:txBody>
          <a:bodyPr/>
          <a:lstStyle/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97954" y="38180960"/>
            <a:ext cx="11950624" cy="227890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99068" y="38180960"/>
            <a:ext cx="1362385" cy="2278904"/>
          </a:xfrm>
        </p:spPr>
        <p:txBody>
          <a:bodyPr/>
          <a:lstStyle/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5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4860D-A6DB-417A-AB2A-95039E62856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E7562-F8F7-4100-96AC-1C5D6C531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4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84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910839" y="5518211"/>
            <a:ext cx="430310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Background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806AD5-7156-257F-C5A6-7E60B690B058}"/>
              </a:ext>
            </a:extLst>
          </p:cNvPr>
          <p:cNvSpPr/>
          <p:nvPr/>
        </p:nvSpPr>
        <p:spPr>
          <a:xfrm>
            <a:off x="320720" y="38973040"/>
            <a:ext cx="29772422" cy="3645718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96B84E-00E3-C9FF-5CA0-753D5B0F964C}"/>
              </a:ext>
            </a:extLst>
          </p:cNvPr>
          <p:cNvSpPr/>
          <p:nvPr/>
        </p:nvSpPr>
        <p:spPr>
          <a:xfrm>
            <a:off x="177472" y="4781808"/>
            <a:ext cx="14741705" cy="11982191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191B727-D7F8-2A71-7BE6-DC714D81C011}"/>
              </a:ext>
            </a:extLst>
          </p:cNvPr>
          <p:cNvSpPr/>
          <p:nvPr/>
        </p:nvSpPr>
        <p:spPr>
          <a:xfrm>
            <a:off x="15141009" y="4781808"/>
            <a:ext cx="14741705" cy="11982191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E6AD64-0892-BFAA-824F-4E025E7EDBEB}"/>
              </a:ext>
            </a:extLst>
          </p:cNvPr>
          <p:cNvSpPr txBox="1"/>
          <p:nvPr/>
        </p:nvSpPr>
        <p:spPr>
          <a:xfrm>
            <a:off x="910838" y="6839847"/>
            <a:ext cx="131009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Autonomous off-road navigation is challenging due to varying terrain conditions, environmental obstacles, and coordination between multiple autonomous vehicles.</a:t>
            </a:r>
            <a:endParaRPr lang="en-IL" sz="5400" dirty="0">
              <a:solidFill>
                <a:schemeClr val="accent5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C31DBD-EF57-EDBE-C18D-7BFB3FC837D6}"/>
              </a:ext>
            </a:extLst>
          </p:cNvPr>
          <p:cNvSpPr txBox="1"/>
          <p:nvPr/>
        </p:nvSpPr>
        <p:spPr>
          <a:xfrm>
            <a:off x="15775585" y="5404921"/>
            <a:ext cx="6833474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Research Objective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D0C70BC-6AF9-6C76-41AA-34EEAEE4ACE4}"/>
              </a:ext>
            </a:extLst>
          </p:cNvPr>
          <p:cNvSpPr txBox="1"/>
          <p:nvPr/>
        </p:nvSpPr>
        <p:spPr>
          <a:xfrm>
            <a:off x="15775585" y="6726367"/>
            <a:ext cx="1528463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Developing a hybrid navigation framework: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On-road and off-road routing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Geospatial Analysis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AI-driven adaptive planning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Multi-vehicle coordination</a:t>
            </a:r>
            <a:endParaRPr lang="en-IL" sz="5400" dirty="0">
              <a:solidFill>
                <a:schemeClr val="accent5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2" name="תמונה 51">
            <a:extLst>
              <a:ext uri="{FF2B5EF4-FFF2-40B4-BE49-F238E27FC236}">
                <a16:creationId xmlns:a16="http://schemas.microsoft.com/office/drawing/2014/main" id="{DEB3B3F2-16A0-3384-3C64-5B18C89D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92" y="267311"/>
            <a:ext cx="29130464" cy="3855264"/>
          </a:xfrm>
          <a:prstGeom prst="rect">
            <a:avLst/>
          </a:prstGeom>
        </p:spPr>
      </p:pic>
      <p:pic>
        <p:nvPicPr>
          <p:cNvPr id="58" name="תמונה 57">
            <a:extLst>
              <a:ext uri="{FF2B5EF4-FFF2-40B4-BE49-F238E27FC236}">
                <a16:creationId xmlns:a16="http://schemas.microsoft.com/office/drawing/2014/main" id="{3845B7E1-44B3-3C84-570E-491D78A78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71" y="10504426"/>
            <a:ext cx="10217175" cy="5749667"/>
          </a:xfrm>
          <a:prstGeom prst="rect">
            <a:avLst/>
          </a:prstGeom>
        </p:spPr>
      </p:pic>
      <p:sp>
        <p:nvSpPr>
          <p:cNvPr id="1025" name="TextBox 48">
            <a:extLst>
              <a:ext uri="{FF2B5EF4-FFF2-40B4-BE49-F238E27FC236}">
                <a16:creationId xmlns:a16="http://schemas.microsoft.com/office/drawing/2014/main" id="{5D09D2BF-2574-5530-2846-6CE91EA1BC70}"/>
              </a:ext>
            </a:extLst>
          </p:cNvPr>
          <p:cNvSpPr txBox="1"/>
          <p:nvPr/>
        </p:nvSpPr>
        <p:spPr>
          <a:xfrm>
            <a:off x="510892" y="17692972"/>
            <a:ext cx="486755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Methodology</a:t>
            </a:r>
          </a:p>
        </p:txBody>
      </p:sp>
      <p:sp>
        <p:nvSpPr>
          <p:cNvPr id="1026" name="TextBox 53">
            <a:extLst>
              <a:ext uri="{FF2B5EF4-FFF2-40B4-BE49-F238E27FC236}">
                <a16:creationId xmlns:a16="http://schemas.microsoft.com/office/drawing/2014/main" id="{FC23D957-B10F-6205-4E4C-4BEE748778EE}"/>
              </a:ext>
            </a:extLst>
          </p:cNvPr>
          <p:cNvSpPr txBox="1"/>
          <p:nvPr/>
        </p:nvSpPr>
        <p:spPr>
          <a:xfrm>
            <a:off x="320720" y="19028849"/>
            <a:ext cx="288609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system generates terrain-aware cost maps using DEM and Landcover data.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Each vehicle computes candidate routes using a terrain-aware pathfinding algorithm.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 AI-based coordination agent then analyzes the routes of all vehicles, detects conflicts, and recommends an improved strategy that benefits the overall multi-vehicle system.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Route information data is shared between vehicles through a decentralized blockchain network.</a:t>
            </a:r>
            <a:endParaRPr lang="en-IL" sz="5400" dirty="0">
              <a:solidFill>
                <a:schemeClr val="accent5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27" name="Rectangle: Rounded Corners 28">
            <a:extLst>
              <a:ext uri="{FF2B5EF4-FFF2-40B4-BE49-F238E27FC236}">
                <a16:creationId xmlns:a16="http://schemas.microsoft.com/office/drawing/2014/main" id="{CAB8FDF7-F19F-AFCE-C3FE-7C16801E89AF}"/>
              </a:ext>
            </a:extLst>
          </p:cNvPr>
          <p:cNvSpPr/>
          <p:nvPr/>
        </p:nvSpPr>
        <p:spPr>
          <a:xfrm>
            <a:off x="90482" y="17169422"/>
            <a:ext cx="29792231" cy="6324578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029" name="תמונה 1028">
            <a:extLst>
              <a:ext uri="{FF2B5EF4-FFF2-40B4-BE49-F238E27FC236}">
                <a16:creationId xmlns:a16="http://schemas.microsoft.com/office/drawing/2014/main" id="{494A469B-B497-DE43-6F4C-EDFC52A1C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36" y="24835131"/>
            <a:ext cx="6830505" cy="8287939"/>
          </a:xfrm>
          <a:prstGeom prst="rect">
            <a:avLst/>
          </a:prstGeom>
        </p:spPr>
      </p:pic>
      <p:pic>
        <p:nvPicPr>
          <p:cNvPr id="1069" name="תמונה 1068">
            <a:extLst>
              <a:ext uri="{FF2B5EF4-FFF2-40B4-BE49-F238E27FC236}">
                <a16:creationId xmlns:a16="http://schemas.microsoft.com/office/drawing/2014/main" id="{65E3162C-9FD7-DC59-46C2-2BFCC1D4A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6291" y="24333094"/>
            <a:ext cx="6908831" cy="9057576"/>
          </a:xfrm>
          <a:prstGeom prst="rect">
            <a:avLst/>
          </a:prstGeom>
        </p:spPr>
      </p:pic>
      <p:sp>
        <p:nvSpPr>
          <p:cNvPr id="1073" name="Rectangle: Rounded Corners 28">
            <a:extLst>
              <a:ext uri="{FF2B5EF4-FFF2-40B4-BE49-F238E27FC236}">
                <a16:creationId xmlns:a16="http://schemas.microsoft.com/office/drawing/2014/main" id="{68157981-4ED9-D924-AF8B-665A82E5E8A4}"/>
              </a:ext>
            </a:extLst>
          </p:cNvPr>
          <p:cNvSpPr/>
          <p:nvPr/>
        </p:nvSpPr>
        <p:spPr>
          <a:xfrm>
            <a:off x="93784" y="24017551"/>
            <a:ext cx="7114282" cy="9868028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076" name="תמונה 1075">
            <a:extLst>
              <a:ext uri="{FF2B5EF4-FFF2-40B4-BE49-F238E27FC236}">
                <a16:creationId xmlns:a16="http://schemas.microsoft.com/office/drawing/2014/main" id="{235FCC79-7B11-3354-CD60-F8ED9E460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030" y="24295366"/>
            <a:ext cx="4606965" cy="9503881"/>
          </a:xfrm>
          <a:prstGeom prst="rect">
            <a:avLst/>
          </a:prstGeom>
        </p:spPr>
      </p:pic>
      <p:sp>
        <p:nvSpPr>
          <p:cNvPr id="1077" name="Rectangle: Rounded Corners 28">
            <a:extLst>
              <a:ext uri="{FF2B5EF4-FFF2-40B4-BE49-F238E27FC236}">
                <a16:creationId xmlns:a16="http://schemas.microsoft.com/office/drawing/2014/main" id="{29035B29-F371-C3A0-593C-6EAA3FA81A48}"/>
              </a:ext>
            </a:extLst>
          </p:cNvPr>
          <p:cNvSpPr/>
          <p:nvPr/>
        </p:nvSpPr>
        <p:spPr>
          <a:xfrm>
            <a:off x="7793420" y="24018457"/>
            <a:ext cx="6148187" cy="9867122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78" name="Rectangle: Rounded Corners 28">
            <a:extLst>
              <a:ext uri="{FF2B5EF4-FFF2-40B4-BE49-F238E27FC236}">
                <a16:creationId xmlns:a16="http://schemas.microsoft.com/office/drawing/2014/main" id="{3C1F6E76-1BF4-A40B-405E-106E74A0CD7F}"/>
              </a:ext>
            </a:extLst>
          </p:cNvPr>
          <p:cNvSpPr/>
          <p:nvPr/>
        </p:nvSpPr>
        <p:spPr>
          <a:xfrm>
            <a:off x="14544041" y="24017550"/>
            <a:ext cx="7682915" cy="9868029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79" name="Rectangle: Rounded Corners 28">
            <a:extLst>
              <a:ext uri="{FF2B5EF4-FFF2-40B4-BE49-F238E27FC236}">
                <a16:creationId xmlns:a16="http://schemas.microsoft.com/office/drawing/2014/main" id="{C376BB84-D2F1-0D1C-084D-F3666A22D00E}"/>
              </a:ext>
            </a:extLst>
          </p:cNvPr>
          <p:cNvSpPr/>
          <p:nvPr/>
        </p:nvSpPr>
        <p:spPr>
          <a:xfrm>
            <a:off x="22609059" y="24017548"/>
            <a:ext cx="7484083" cy="9868029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081" name="תמונה 1080">
            <a:extLst>
              <a:ext uri="{FF2B5EF4-FFF2-40B4-BE49-F238E27FC236}">
                <a16:creationId xmlns:a16="http://schemas.microsoft.com/office/drawing/2014/main" id="{9128662B-1C8B-B5DC-7382-E160DA3888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4369" y="11124856"/>
            <a:ext cx="7435508" cy="5336776"/>
          </a:xfrm>
          <a:prstGeom prst="rect">
            <a:avLst/>
          </a:prstGeom>
        </p:spPr>
      </p:pic>
      <p:sp>
        <p:nvSpPr>
          <p:cNvPr id="1082" name="TextBox 19">
            <a:extLst>
              <a:ext uri="{FF2B5EF4-FFF2-40B4-BE49-F238E27FC236}">
                <a16:creationId xmlns:a16="http://schemas.microsoft.com/office/drawing/2014/main" id="{25CA126D-0A37-15FE-4BC6-66A7B9B2B485}"/>
              </a:ext>
            </a:extLst>
          </p:cNvPr>
          <p:cNvSpPr txBox="1"/>
          <p:nvPr/>
        </p:nvSpPr>
        <p:spPr>
          <a:xfrm>
            <a:off x="934284" y="34981689"/>
            <a:ext cx="7953972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Research Contribution</a:t>
            </a:r>
          </a:p>
        </p:txBody>
      </p:sp>
      <p:sp>
        <p:nvSpPr>
          <p:cNvPr id="1083" name="TextBox 61">
            <a:extLst>
              <a:ext uri="{FF2B5EF4-FFF2-40B4-BE49-F238E27FC236}">
                <a16:creationId xmlns:a16="http://schemas.microsoft.com/office/drawing/2014/main" id="{A1F8BE80-FBE2-2006-8177-F939E051E027}"/>
              </a:ext>
            </a:extLst>
          </p:cNvPr>
          <p:cNvSpPr txBox="1"/>
          <p:nvPr/>
        </p:nvSpPr>
        <p:spPr>
          <a:xfrm>
            <a:off x="1039792" y="36253081"/>
            <a:ext cx="28118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5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proposed AI-based framework uses an LLM and Agent architecture to analyze route alternatives, optimize coordination between autonomous vehicles, and adapt navigation strategies in real time.</a:t>
            </a:r>
            <a:endParaRPr lang="en-IL" sz="5400" dirty="0">
              <a:solidFill>
                <a:schemeClr val="accent5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85" name="Rectangle: Rounded Corners 16">
            <a:extLst>
              <a:ext uri="{FF2B5EF4-FFF2-40B4-BE49-F238E27FC236}">
                <a16:creationId xmlns:a16="http://schemas.microsoft.com/office/drawing/2014/main" id="{470493A7-990F-C77E-1705-27C8CF1C451B}"/>
              </a:ext>
            </a:extLst>
          </p:cNvPr>
          <p:cNvSpPr/>
          <p:nvPr/>
        </p:nvSpPr>
        <p:spPr>
          <a:xfrm>
            <a:off x="320720" y="34647224"/>
            <a:ext cx="29772422" cy="3645718"/>
          </a:xfrm>
          <a:prstGeom prst="roundRect">
            <a:avLst/>
          </a:prstGeom>
          <a:noFill/>
          <a:ln w="76200">
            <a:solidFill>
              <a:srgbClr val="00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394C0124-6530-46FF-81BA-D3F951E00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9303" y="2482815"/>
            <a:ext cx="6250132" cy="157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me - THE ISRAELI SMART TRANSPORTATION RESEARCH CENTER">
            <a:extLst>
              <a:ext uri="{FF2B5EF4-FFF2-40B4-BE49-F238E27FC236}">
                <a16:creationId xmlns:a16="http://schemas.microsoft.com/office/drawing/2014/main" id="{C2B89E79-AAC9-1783-3504-4CF3F8871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701" y="4971845"/>
            <a:ext cx="2828630" cy="192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0E3A0068-3B58-06FC-319E-49C3C9288E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3402" y="24478896"/>
            <a:ext cx="6841833" cy="8737958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266C300-17E2-FE14-4645-B7A610D87A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39" y="39076402"/>
            <a:ext cx="29118744" cy="34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oryboard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7464</TotalTime>
  <Words>136</Words>
  <Application>Microsoft Office PowerPoint</Application>
  <PresentationFormat>מותאם אישית</PresentationFormat>
  <Paragraphs>15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Storyboard Layouts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hannaya</dc:creator>
  <cp:lastModifiedBy>Omry Yinon</cp:lastModifiedBy>
  <cp:revision>89</cp:revision>
  <dcterms:created xsi:type="dcterms:W3CDTF">2023-06-06T10:53:53Z</dcterms:created>
  <dcterms:modified xsi:type="dcterms:W3CDTF">2026-05-27T19:22:37Z</dcterms:modified>
</cp:coreProperties>
</file>